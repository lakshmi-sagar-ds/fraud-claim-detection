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59" r:id="rId4"/>
    <p:sldId id="264" r:id="rId5"/>
    <p:sldId id="265" r:id="rId6"/>
    <p:sldId id="266" r:id="rId7"/>
    <p:sldId id="267" r:id="rId8"/>
    <p:sldId id="268" r:id="rId9"/>
    <p:sldId id="269" r:id="rId10"/>
    <p:sldId id="271" r:id="rId11"/>
    <p:sldId id="273" r:id="rId12"/>
    <p:sldId id="272" r:id="rId13"/>
    <p:sldId id="275"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snapToGrid="0">
      <p:cViewPr varScale="1">
        <p:scale>
          <a:sx n="106" d="100"/>
          <a:sy n="106" d="100"/>
        </p:scale>
        <p:origin x="7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F8F8D4-833C-4269-BE49-B6F343CD04F2}" type="datetimeFigureOut">
              <a:rPr lang="en-US" smtClean="0"/>
              <a:t>08-Apr-25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02971-1FF8-4814-9AF2-17EA8122A915}" type="slidenum">
              <a:rPr lang="en-US" smtClean="0"/>
              <a:t>‹#›</a:t>
            </a:fld>
            <a:endParaRPr lang="en-US"/>
          </a:p>
        </p:txBody>
      </p:sp>
    </p:spTree>
    <p:extLst>
      <p:ext uri="{BB962C8B-B14F-4D97-AF65-F5344CB8AC3E}">
        <p14:creationId xmlns:p14="http://schemas.microsoft.com/office/powerpoint/2010/main" val="353092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C02971-1FF8-4814-9AF2-17EA8122A915}" type="slidenum">
              <a:rPr lang="en-US" smtClean="0"/>
              <a:t>11</a:t>
            </a:fld>
            <a:endParaRPr lang="en-US"/>
          </a:p>
        </p:txBody>
      </p:sp>
    </p:spTree>
    <p:extLst>
      <p:ext uri="{BB962C8B-B14F-4D97-AF65-F5344CB8AC3E}">
        <p14:creationId xmlns:p14="http://schemas.microsoft.com/office/powerpoint/2010/main" val="3615042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E92DF-FFF6-B9E2-B0B8-E8EBEBD598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017A7E-339E-B26C-03FA-478CFE6938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D5C25-2B28-4E22-6DBA-81B4747AF679}"/>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D1DC2C7A-0823-D32B-8A8C-3959CEA136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DB73F3-D1A5-71E9-2586-606EABA12F56}"/>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257857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C6F14-85DE-F9E5-B3DA-5A0E4F77F9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587E09-90E0-9ABD-90BE-0D4F5A528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B2E7F-118C-F60F-5CBD-EB00AD1D92CB}"/>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0731062F-D8C9-417D-DF65-1AC3FE28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005AD-218E-48D3-1032-FDB69B083482}"/>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4028019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1C38-EC2E-E3FE-E765-1ED214E42D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6F288D-C367-1188-39E8-E5FE3302C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9EE5A4-5D53-8985-A220-940498B4EF01}"/>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1B44DD32-6A9E-C651-CD13-03356EC2D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2A172-84EB-BCE2-B7AD-05A96D8C0E8D}"/>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1452012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AB7E-C88C-F3F4-8364-51AE594732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C16098-D75C-4B07-FBF5-6E01542ED8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EB09D1-6BA1-1024-B242-34A5C4709E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CA9D2C-E110-DFF2-7C9A-74714181B7A2}"/>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6" name="Footer Placeholder 5">
            <a:extLst>
              <a:ext uri="{FF2B5EF4-FFF2-40B4-BE49-F238E27FC236}">
                <a16:creationId xmlns:a16="http://schemas.microsoft.com/office/drawing/2014/main" id="{03781B41-7AB4-E721-5718-3332F9E374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70F0A4-6CBC-4132-3F1C-64F5F651BD9F}"/>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3144841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4000F-2462-52C1-516C-64864C1696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B41BF1-D078-FE50-E2D9-BE7ADC10B6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96FA64-22B1-0C77-2E39-F7615A06E4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A492D8-558B-2FCB-7852-55973E3FC3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5717D-9221-6BA3-F3F5-8C6DC0ADC6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EAA740-8CFC-2487-0DE3-01FD4AB6DF34}"/>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8" name="Footer Placeholder 7">
            <a:extLst>
              <a:ext uri="{FF2B5EF4-FFF2-40B4-BE49-F238E27FC236}">
                <a16:creationId xmlns:a16="http://schemas.microsoft.com/office/drawing/2014/main" id="{61429DED-B353-2B92-E2AA-A6B1F278E4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2E8E1-2BF3-FA60-C63B-13E0BE99C689}"/>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3847097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0D77D-3CD9-EA99-E251-515DB81727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DA8AF-6F68-C0C9-3E98-AA9C17DBC23E}"/>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4" name="Footer Placeholder 3">
            <a:extLst>
              <a:ext uri="{FF2B5EF4-FFF2-40B4-BE49-F238E27FC236}">
                <a16:creationId xmlns:a16="http://schemas.microsoft.com/office/drawing/2014/main" id="{3FEF28A2-C7AE-174C-81DC-AC2FBE807A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932043-715B-FB6A-956B-CD93630CB384}"/>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2568171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8545C6-FE32-A03A-C3B4-408DD618CA6C}"/>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3" name="Footer Placeholder 2">
            <a:extLst>
              <a:ext uri="{FF2B5EF4-FFF2-40B4-BE49-F238E27FC236}">
                <a16:creationId xmlns:a16="http://schemas.microsoft.com/office/drawing/2014/main" id="{8CA29195-17A6-2433-6AF0-A3FE027F2C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F4CF19-A638-851A-464B-1B3C671CD4AB}"/>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105834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84CB1-0C1F-C928-A8C8-10332A2C3A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6E215-F788-59C7-0C45-4871F1CDD6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B8277-9DB5-AED0-A25F-FC39FB81A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54F75C-35C0-7A22-BB9A-60C881386ECF}"/>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6" name="Footer Placeholder 5">
            <a:extLst>
              <a:ext uri="{FF2B5EF4-FFF2-40B4-BE49-F238E27FC236}">
                <a16:creationId xmlns:a16="http://schemas.microsoft.com/office/drawing/2014/main" id="{3AB891E4-4B1B-B7B8-1D7B-1A302FC733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B6483C-983E-DD2C-4082-0EE3C733CAC3}"/>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4169595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8948-0CC4-CF77-95B4-4C0416E2F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183452-1D91-D5B0-43F7-43FA72532D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C272D5-6316-DCD1-8F64-490EBEDD8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5A04C8-0339-C750-78F9-6C273C11D251}"/>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6" name="Footer Placeholder 5">
            <a:extLst>
              <a:ext uri="{FF2B5EF4-FFF2-40B4-BE49-F238E27FC236}">
                <a16:creationId xmlns:a16="http://schemas.microsoft.com/office/drawing/2014/main" id="{47E5B171-7E7D-5044-84D7-E932DFB483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CE39E1-E96B-B9A2-CA74-8C3648ABA821}"/>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3614775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D28E-BF50-1600-AA53-719DA25CF6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35EE5E-01B0-4D29-62EF-9E29F61FD9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2E23CB-37E1-116A-571B-B49060923E50}"/>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3229E56B-2678-2F2E-9348-63B6517EB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E8D12-1B10-AA96-A731-7E197AEC763D}"/>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159802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2DD7CD-0265-A86F-3A3A-93FD40EE38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6AAD1C-AADF-6D73-3516-55914B7C5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D6C16F-2926-D575-273C-1F89683854FC}"/>
              </a:ext>
            </a:extLst>
          </p:cNvPr>
          <p:cNvSpPr>
            <a:spLocks noGrp="1"/>
          </p:cNvSpPr>
          <p:nvPr>
            <p:ph type="dt" sz="half" idx="10"/>
          </p:nvPr>
        </p:nvSpPr>
        <p:spPr/>
        <p:txBody>
          <a:body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1EEAA279-C801-E049-24E6-DDD4B041D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A1900-2D16-FD62-3645-D07C2419B744}"/>
              </a:ext>
            </a:extLst>
          </p:cNvPr>
          <p:cNvSpPr>
            <a:spLocks noGrp="1"/>
          </p:cNvSpPr>
          <p:nvPr>
            <p:ph type="sldNum" sz="quarter" idx="12"/>
          </p:nvPr>
        </p:nvSpPr>
        <p:spPr/>
        <p:txBody>
          <a:bodyPr/>
          <a:lstStyle/>
          <a:p>
            <a:fld id="{22825839-1589-4648-934D-9315FB983B27}" type="slidenum">
              <a:rPr lang="en-US" smtClean="0"/>
              <a:t>‹#›</a:t>
            </a:fld>
            <a:endParaRPr lang="en-US"/>
          </a:p>
        </p:txBody>
      </p:sp>
    </p:spTree>
    <p:extLst>
      <p:ext uri="{BB962C8B-B14F-4D97-AF65-F5344CB8AC3E}">
        <p14:creationId xmlns:p14="http://schemas.microsoft.com/office/powerpoint/2010/main" val="1549030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C03568-2C43-6F67-4591-B7D236BFB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85098D-6AF7-A442-129E-9E3A7EA365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C8BBC-9234-E615-E315-D348922CC9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39707-92FB-4525-8768-AB451E7D1E9C}" type="datetimeFigureOut">
              <a:rPr lang="en-US" smtClean="0"/>
              <a:t>08-Apr-25</a:t>
            </a:fld>
            <a:endParaRPr lang="en-US"/>
          </a:p>
        </p:txBody>
      </p:sp>
      <p:sp>
        <p:nvSpPr>
          <p:cNvPr id="5" name="Footer Placeholder 4">
            <a:extLst>
              <a:ext uri="{FF2B5EF4-FFF2-40B4-BE49-F238E27FC236}">
                <a16:creationId xmlns:a16="http://schemas.microsoft.com/office/drawing/2014/main" id="{6FC72342-1A2E-0A0E-E9C4-5DAD7EDB7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BE8947-F9FD-E28C-114A-DCE316278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825839-1589-4648-934D-9315FB983B27}" type="slidenum">
              <a:rPr lang="en-US" smtClean="0"/>
              <a:t>‹#›</a:t>
            </a:fld>
            <a:endParaRPr lang="en-US"/>
          </a:p>
        </p:txBody>
      </p:sp>
    </p:spTree>
    <p:extLst>
      <p:ext uri="{BB962C8B-B14F-4D97-AF65-F5344CB8AC3E}">
        <p14:creationId xmlns:p14="http://schemas.microsoft.com/office/powerpoint/2010/main" val="1546240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B9036-B42D-62E3-02DE-D2F05FA21263}"/>
              </a:ext>
            </a:extLst>
          </p:cNvPr>
          <p:cNvSpPr>
            <a:spLocks noGrp="1"/>
          </p:cNvSpPr>
          <p:nvPr>
            <p:ph type="ctrTitle"/>
          </p:nvPr>
        </p:nvSpPr>
        <p:spPr/>
        <p:txBody>
          <a:bodyPr/>
          <a:lstStyle/>
          <a:p>
            <a:r>
              <a:rPr lang="en-IN" sz="4000" b="1" dirty="0">
                <a:effectLst/>
                <a:latin typeface="Calibri" panose="020F0502020204030204" pitchFamily="34" charset="0"/>
                <a:ea typeface="Calibri" panose="020F0502020204030204" pitchFamily="34" charset="0"/>
                <a:cs typeface="Times New Roman" panose="02020603050405020304" pitchFamily="18" charset="0"/>
              </a:rPr>
              <a:t>Fraudulent_Claim_Detection</a:t>
            </a:r>
            <a:endParaRPr lang="en-US" dirty="0"/>
          </a:p>
        </p:txBody>
      </p:sp>
      <p:sp>
        <p:nvSpPr>
          <p:cNvPr id="3" name="Subtitle 2">
            <a:extLst>
              <a:ext uri="{FF2B5EF4-FFF2-40B4-BE49-F238E27FC236}">
                <a16:creationId xmlns:a16="http://schemas.microsoft.com/office/drawing/2014/main" id="{E87FD257-9505-E23F-8BF5-F9DCA734267E}"/>
              </a:ext>
            </a:extLst>
          </p:cNvPr>
          <p:cNvSpPr>
            <a:spLocks noGrp="1"/>
          </p:cNvSpPr>
          <p:nvPr>
            <p:ph type="subTitle" idx="1"/>
          </p:nvPr>
        </p:nvSpPr>
        <p:spPr/>
        <p:txBody>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Authors: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LakshmiSagar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SP, Karthik R L, Anish Khosla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83599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F4421-7A10-709D-B8EE-2D40E9618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74840-FC72-C8A2-7E88-AD506980A257}"/>
              </a:ext>
            </a:extLst>
          </p:cNvPr>
          <p:cNvSpPr>
            <a:spLocks noGrp="1"/>
          </p:cNvSpPr>
          <p:nvPr>
            <p:ph type="title"/>
          </p:nvPr>
        </p:nvSpPr>
        <p:spPr>
          <a:xfrm>
            <a:off x="838200" y="0"/>
            <a:ext cx="10515600" cy="1325563"/>
          </a:xfrm>
        </p:spPr>
        <p:txBody>
          <a:bodyPr/>
          <a:lstStyle/>
          <a:p>
            <a:r>
              <a:rPr lang="en-US" dirty="0"/>
              <a:t>Overview</a:t>
            </a:r>
          </a:p>
        </p:txBody>
      </p:sp>
      <p:sp>
        <p:nvSpPr>
          <p:cNvPr id="3" name="Content Placeholder 2">
            <a:extLst>
              <a:ext uri="{FF2B5EF4-FFF2-40B4-BE49-F238E27FC236}">
                <a16:creationId xmlns:a16="http://schemas.microsoft.com/office/drawing/2014/main" id="{A4500715-FF13-C710-1A55-D0C833A6A209}"/>
              </a:ext>
            </a:extLst>
          </p:cNvPr>
          <p:cNvSpPr>
            <a:spLocks noGrp="1"/>
          </p:cNvSpPr>
          <p:nvPr>
            <p:ph idx="1"/>
          </p:nvPr>
        </p:nvSpPr>
        <p:spPr>
          <a:xfrm>
            <a:off x="838200" y="935703"/>
            <a:ext cx="10515600" cy="1831975"/>
          </a:xfrm>
        </p:spPr>
        <p:txBody>
          <a:bodyPr/>
          <a:lstStyle/>
          <a:p>
            <a:pPr marL="0" marR="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Global Insure, a leading insurance company, processes thousands of claims annually. However, a significant percentage of these claims turn out to be fraudulent, resulting in considerable financial losses. The company’s current process for identifying fraudulent claims involves manual inspections, which are time-consuming and inefficient. Fraudulent claims are often detected too late in the process, after the company has already paid out significant amounts.</a:t>
            </a:r>
          </a:p>
        </p:txBody>
      </p:sp>
      <p:sp>
        <p:nvSpPr>
          <p:cNvPr id="4" name="Content Placeholder 2">
            <a:extLst>
              <a:ext uri="{FF2B5EF4-FFF2-40B4-BE49-F238E27FC236}">
                <a16:creationId xmlns:a16="http://schemas.microsoft.com/office/drawing/2014/main" id="{BBFB483C-D192-B2F3-F996-65C2D2461252}"/>
              </a:ext>
            </a:extLst>
          </p:cNvPr>
          <p:cNvSpPr txBox="1">
            <a:spLocks/>
          </p:cNvSpPr>
          <p:nvPr/>
        </p:nvSpPr>
        <p:spPr>
          <a:xfrm>
            <a:off x="838200" y="3429000"/>
            <a:ext cx="10515600" cy="183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Global Insure wants to improve its fraud detection process using data-driven insights to classify claims as fraudulent or legitimate early in the approval process. This would minimize financial losses and optimize the overall claims handling process.</a:t>
            </a:r>
          </a:p>
        </p:txBody>
      </p:sp>
      <p:sp>
        <p:nvSpPr>
          <p:cNvPr id="5" name="Title 1">
            <a:extLst>
              <a:ext uri="{FF2B5EF4-FFF2-40B4-BE49-F238E27FC236}">
                <a16:creationId xmlns:a16="http://schemas.microsoft.com/office/drawing/2014/main" id="{7F6E1FFA-8ADE-0E24-1BE2-E43007E7083B}"/>
              </a:ext>
            </a:extLst>
          </p:cNvPr>
          <p:cNvSpPr txBox="1">
            <a:spLocks/>
          </p:cNvSpPr>
          <p:nvPr/>
        </p:nvSpPr>
        <p:spPr>
          <a:xfrm>
            <a:off x="838200" y="25115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Problem Statement</a:t>
            </a:r>
          </a:p>
        </p:txBody>
      </p:sp>
      <p:sp>
        <p:nvSpPr>
          <p:cNvPr id="6" name="Title 1">
            <a:extLst>
              <a:ext uri="{FF2B5EF4-FFF2-40B4-BE49-F238E27FC236}">
                <a16:creationId xmlns:a16="http://schemas.microsoft.com/office/drawing/2014/main" id="{784515E9-D47D-9AA3-7571-FB80C4415D5A}"/>
              </a:ext>
            </a:extLst>
          </p:cNvPr>
          <p:cNvSpPr txBox="1">
            <a:spLocks/>
          </p:cNvSpPr>
          <p:nvPr/>
        </p:nvSpPr>
        <p:spPr>
          <a:xfrm>
            <a:off x="838200" y="434498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Objective</a:t>
            </a:r>
            <a:endParaRPr lang="en-US" dirty="0"/>
          </a:p>
        </p:txBody>
      </p:sp>
      <p:sp>
        <p:nvSpPr>
          <p:cNvPr id="7" name="Content Placeholder 2">
            <a:extLst>
              <a:ext uri="{FF2B5EF4-FFF2-40B4-BE49-F238E27FC236}">
                <a16:creationId xmlns:a16="http://schemas.microsoft.com/office/drawing/2014/main" id="{D6A63452-BB74-9B91-F1A3-59D6C21E6381}"/>
              </a:ext>
            </a:extLst>
          </p:cNvPr>
          <p:cNvSpPr txBox="1">
            <a:spLocks/>
          </p:cNvSpPr>
          <p:nvPr/>
        </p:nvSpPr>
        <p:spPr>
          <a:xfrm>
            <a:off x="838200" y="5262458"/>
            <a:ext cx="10515600" cy="1408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nSpc>
                <a:spcPct val="115000"/>
              </a:lnSpc>
              <a:spcAft>
                <a:spcPts val="1000"/>
              </a:spcAft>
              <a:buFont typeface="Arial" panose="020B0604020202020204" pitchFamily="34" charset="0"/>
              <a:buNone/>
            </a:pPr>
            <a:r>
              <a:rPr lang="en-US" sz="1800">
                <a:latin typeface="Calibri" panose="020F0502020204030204" pitchFamily="34" charset="0"/>
                <a:cs typeface="Calibri" panose="020F0502020204030204" pitchFamily="34" charset="0"/>
              </a:rPr>
              <a:t>To build a model to classify insurance claims as either fraudulent or legitimate based on historical claim details and customer profiles. By using features like claim amounts, customer profiles and claim types, the company aims to predict which claims are likely to be fraudulent before they are approved.</a:t>
            </a:r>
            <a:endParaRPr lang="en-US" sz="1800" kern="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9987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493BF-2B84-6AF5-CCAB-97128B7A26F3}"/>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85D5A8-285D-A00F-2A84-1CEDF69DDCC5}"/>
              </a:ext>
            </a:extLst>
          </p:cNvPr>
          <p:cNvSpPr txBox="1">
            <a:spLocks/>
          </p:cNvSpPr>
          <p:nvPr/>
        </p:nvSpPr>
        <p:spPr>
          <a:xfrm>
            <a:off x="838200" y="1030574"/>
            <a:ext cx="10515600" cy="5284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Insurance_Claims data provided has 1000 rows and 40 columns.</a:t>
            </a:r>
          </a:p>
        </p:txBody>
      </p:sp>
      <p:sp>
        <p:nvSpPr>
          <p:cNvPr id="5" name="Title 1">
            <a:extLst>
              <a:ext uri="{FF2B5EF4-FFF2-40B4-BE49-F238E27FC236}">
                <a16:creationId xmlns:a16="http://schemas.microsoft.com/office/drawing/2014/main" id="{3C04C606-B012-A9A7-4578-359BD529422A}"/>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a:t>
            </a:r>
          </a:p>
        </p:txBody>
      </p:sp>
      <p:sp>
        <p:nvSpPr>
          <p:cNvPr id="10" name="Title 1">
            <a:extLst>
              <a:ext uri="{FF2B5EF4-FFF2-40B4-BE49-F238E27FC236}">
                <a16:creationId xmlns:a16="http://schemas.microsoft.com/office/drawing/2014/main" id="{A5BE8F02-B587-25BF-F36E-87444BD4C396}"/>
              </a:ext>
            </a:extLst>
          </p:cNvPr>
          <p:cNvSpPr txBox="1">
            <a:spLocks/>
          </p:cNvSpPr>
          <p:nvPr/>
        </p:nvSpPr>
        <p:spPr>
          <a:xfrm>
            <a:off x="838200" y="132556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Clean-up</a:t>
            </a:r>
          </a:p>
        </p:txBody>
      </p:sp>
      <p:sp>
        <p:nvSpPr>
          <p:cNvPr id="11" name="Content Placeholder 2">
            <a:extLst>
              <a:ext uri="{FF2B5EF4-FFF2-40B4-BE49-F238E27FC236}">
                <a16:creationId xmlns:a16="http://schemas.microsoft.com/office/drawing/2014/main" id="{404C1188-A7C2-6700-8647-6E6CC56567F7}"/>
              </a:ext>
            </a:extLst>
          </p:cNvPr>
          <p:cNvSpPr txBox="1">
            <a:spLocks/>
          </p:cNvSpPr>
          <p:nvPr/>
        </p:nvSpPr>
        <p:spPr>
          <a:xfrm>
            <a:off x="838198" y="2486234"/>
            <a:ext cx="10824149" cy="41993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1. Column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authorities_contacted</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has 91 rows which have null value, these have been replaced with the value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Unkown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15000"/>
              </a:lnSpc>
              <a:spcAft>
                <a:spcPts val="100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2. Column “_c39” with entirely </a:t>
            </a:r>
            <a:r>
              <a:rPr lang="en-US" sz="1800" kern="100" dirty="0" err="1">
                <a:latin typeface="Calibri" panose="020F0502020204030204" pitchFamily="34" charset="0"/>
                <a:ea typeface="Calibri" panose="020F0502020204030204" pitchFamily="34" charset="0"/>
                <a:cs typeface="Times New Roman" panose="02020603050405020304" pitchFamily="18" charset="0"/>
              </a:rPr>
              <a:t>null_values</a:t>
            </a:r>
            <a:r>
              <a:rPr lang="en-US" sz="1800" kern="100" dirty="0">
                <a:latin typeface="Calibri" panose="020F0502020204030204" pitchFamily="34" charset="0"/>
                <a:ea typeface="Calibri" panose="020F0502020204030204" pitchFamily="34" charset="0"/>
                <a:cs typeface="Times New Roman" panose="02020603050405020304" pitchFamily="18" charset="0"/>
              </a:rPr>
              <a:t>” which have been dropped completely.</a:t>
            </a:r>
          </a:p>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kern="100" dirty="0">
                <a:latin typeface="Calibri" panose="020F0502020204030204" pitchFamily="34" charset="0"/>
                <a:ea typeface="Calibri" panose="020F0502020204030204" pitchFamily="34" charset="0"/>
                <a:cs typeface="Times New Roman" panose="02020603050405020304" pitchFamily="18" charset="0"/>
              </a:rPr>
              <a:t>Columns “</a:t>
            </a:r>
            <a:r>
              <a:rPr lang="en-US" sz="1800" kern="100" dirty="0" err="1">
                <a:latin typeface="Calibri" panose="020F0502020204030204" pitchFamily="34" charset="0"/>
                <a:ea typeface="Calibri" panose="020F0502020204030204" pitchFamily="34" charset="0"/>
                <a:cs typeface="Times New Roman" panose="02020603050405020304" pitchFamily="18" charset="0"/>
              </a:rPr>
              <a:t>property_damage</a:t>
            </a:r>
            <a:r>
              <a:rPr lang="en-US" sz="1800" kern="100" dirty="0">
                <a:latin typeface="Calibri" panose="020F0502020204030204" pitchFamily="34" charset="0"/>
                <a:ea typeface="Calibri" panose="020F0502020204030204" pitchFamily="34" charset="0"/>
                <a:cs typeface="Times New Roman" panose="02020603050405020304" pitchFamily="18" charset="0"/>
              </a:rPr>
              <a:t>” and “</a:t>
            </a:r>
            <a:r>
              <a:rPr lang="en-US" sz="1800" kern="100" dirty="0" err="1">
                <a:latin typeface="Calibri" panose="020F0502020204030204" pitchFamily="34" charset="0"/>
                <a:ea typeface="Calibri" panose="020F0502020204030204" pitchFamily="34" charset="0"/>
                <a:cs typeface="Times New Roman" panose="02020603050405020304" pitchFamily="18" charset="0"/>
              </a:rPr>
              <a:t>police_report_available</a:t>
            </a:r>
            <a:r>
              <a:rPr lang="en-US" sz="1800" kern="100" dirty="0">
                <a:latin typeface="Calibri" panose="020F0502020204030204" pitchFamily="34" charset="0"/>
                <a:ea typeface="Calibri" panose="020F0502020204030204" pitchFamily="34" charset="0"/>
                <a:cs typeface="Times New Roman" panose="02020603050405020304" pitchFamily="18" charset="0"/>
              </a:rPr>
              <a:t>” had “?” which have been replaced with “Unknown”.</a:t>
            </a:r>
          </a:p>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4. Following columns have been </a:t>
            </a:r>
            <a:r>
              <a:rPr lang="en-US" sz="1800" kern="100" dirty="0">
                <a:latin typeface="Calibri" panose="020F0502020204030204" pitchFamily="34" charset="0"/>
                <a:ea typeface="Calibri" panose="020F0502020204030204" pitchFamily="34" charset="0"/>
                <a:cs typeface="Times New Roman" panose="02020603050405020304" pitchFamily="18" charset="0"/>
              </a:rPr>
              <a:t>dropped to streamline the data and make prediction accurate “</a:t>
            </a:r>
            <a:r>
              <a:rPr lang="en-US" sz="1800" kern="100" dirty="0" err="1">
                <a:latin typeface="Calibri" panose="020F0502020204030204" pitchFamily="34" charset="0"/>
                <a:ea typeface="Calibri" panose="020F0502020204030204" pitchFamily="34" charset="0"/>
                <a:cs typeface="Times New Roman" panose="02020603050405020304" pitchFamily="18" charset="0"/>
              </a:rPr>
              <a:t>policy_number</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insured_zip</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incident_location</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insured_hobbies</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auto_make</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auto_model</a:t>
            </a:r>
            <a:r>
              <a:rPr lang="en-US" sz="1800" kern="100" dirty="0">
                <a:latin typeface="Calibri" panose="020F0502020204030204" pitchFamily="34" charset="0"/>
                <a:ea typeface="Calibri" panose="020F0502020204030204" pitchFamily="34" charset="0"/>
                <a:cs typeface="Times New Roman" panose="02020603050405020304" pitchFamily="18" charset="0"/>
              </a:rPr>
              <a:t>”, and “</a:t>
            </a:r>
            <a:r>
              <a:rPr lang="en-US" sz="1800" kern="100" dirty="0" err="1">
                <a:latin typeface="Calibri" panose="020F0502020204030204" pitchFamily="34" charset="0"/>
                <a:ea typeface="Calibri" panose="020F0502020204030204" pitchFamily="34" charset="0"/>
                <a:cs typeface="Times New Roman" panose="02020603050405020304" pitchFamily="18" charset="0"/>
              </a:rPr>
              <a:t>auto_year</a:t>
            </a: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15000"/>
              </a:lnSpc>
              <a:spcAft>
                <a:spcPts val="10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5. Columns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policy_bind_date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incident_date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have had the datatype correction to appear as datetime.</a:t>
            </a:r>
          </a:p>
          <a:p>
            <a:pPr marL="0" marR="0" indent="0">
              <a:lnSpc>
                <a:spcPct val="115000"/>
              </a:lnSpc>
              <a:spcAft>
                <a:spcPts val="100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6. Column “</a:t>
            </a:r>
            <a:r>
              <a:rPr lang="en-US" sz="1800" kern="100" dirty="0" err="1">
                <a:latin typeface="Calibri" panose="020F0502020204030204" pitchFamily="34" charset="0"/>
                <a:ea typeface="Calibri" panose="020F0502020204030204" pitchFamily="34" charset="0"/>
                <a:cs typeface="Times New Roman" panose="02020603050405020304" pitchFamily="18" charset="0"/>
              </a:rPr>
              <a:t>policy_annual_premium</a:t>
            </a:r>
            <a:r>
              <a:rPr lang="en-US" sz="1800" kern="100" dirty="0">
                <a:latin typeface="Calibri" panose="020F0502020204030204" pitchFamily="34" charset="0"/>
                <a:ea typeface="Calibri" panose="020F0502020204030204" pitchFamily="34" charset="0"/>
                <a:cs typeface="Times New Roman" panose="02020603050405020304" pitchFamily="18" charset="0"/>
              </a:rPr>
              <a:t>” has been updated to datatype Integer from Float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0953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49D35F-B98A-F1D4-DA12-45D6C1E9E9A9}"/>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B533EF-C301-86B3-E2BA-AD7A1E10C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6ACCBA45-72F2-CE3E-E427-0576D47D73B5}"/>
              </a:ext>
            </a:extLst>
          </p:cNvPr>
          <p:cNvSpPr txBox="1">
            <a:spLocks/>
          </p:cNvSpPr>
          <p:nvPr/>
        </p:nvSpPr>
        <p:spPr>
          <a:xfrm>
            <a:off x="477627" y="5086350"/>
            <a:ext cx="2446465" cy="11782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Aft>
                <a:spcPts val="1000"/>
              </a:spcAft>
              <a:buNone/>
            </a:pPr>
            <a:r>
              <a:rPr lang="en-US" sz="1600" dirty="0">
                <a:effectLst/>
                <a:latin typeface="Calibri" panose="020F0502020204030204" pitchFamily="34" charset="0"/>
                <a:cs typeface="Calibri" panose="020F0502020204030204" pitchFamily="34" charset="0"/>
              </a:rPr>
              <a:t>Age and Months as Customer have high correlation.</a:t>
            </a:r>
          </a:p>
        </p:txBody>
      </p:sp>
      <p:sp>
        <p:nvSpPr>
          <p:cNvPr id="22" name="Rectangle 21">
            <a:extLst>
              <a:ext uri="{FF2B5EF4-FFF2-40B4-BE49-F238E27FC236}">
                <a16:creationId xmlns:a16="http://schemas.microsoft.com/office/drawing/2014/main" id="{E1863203-847D-DBE0-A8DB-121F3DB7A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561ABAF-5DF1-00FC-327F-CDA35665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464007E-8A7A-4D3B-DADC-FC9614191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2FE3FEA-5881-EEC8-A7A4-8AB10D91A86A}"/>
              </a:ext>
            </a:extLst>
          </p:cNvPr>
          <p:cNvPicPr>
            <a:picLocks noChangeAspect="1"/>
          </p:cNvPicPr>
          <p:nvPr/>
        </p:nvPicPr>
        <p:blipFill>
          <a:blip r:embed="rId2"/>
          <a:stretch>
            <a:fillRect/>
          </a:stretch>
        </p:blipFill>
        <p:spPr>
          <a:xfrm>
            <a:off x="4199825" y="930827"/>
            <a:ext cx="7400925" cy="5067300"/>
          </a:xfrm>
          <a:prstGeom prst="rect">
            <a:avLst/>
          </a:prstGeom>
        </p:spPr>
      </p:pic>
      <p:sp>
        <p:nvSpPr>
          <p:cNvPr id="8" name="Title 1">
            <a:extLst>
              <a:ext uri="{FF2B5EF4-FFF2-40B4-BE49-F238E27FC236}">
                <a16:creationId xmlns:a16="http://schemas.microsoft.com/office/drawing/2014/main" id="{39729CB0-DE06-8AD4-99FA-704153587B6C}"/>
              </a:ext>
            </a:extLst>
          </p:cNvPr>
          <p:cNvSpPr>
            <a:spLocks noGrp="1"/>
          </p:cNvSpPr>
          <p:nvPr>
            <p:ph type="title"/>
          </p:nvPr>
        </p:nvSpPr>
        <p:spPr>
          <a:xfrm>
            <a:off x="454467" y="2023110"/>
            <a:ext cx="2469624" cy="2846070"/>
          </a:xfrm>
        </p:spPr>
        <p:txBody>
          <a:bodyPr vert="horz" lIns="91440" tIns="45720" rIns="91440" bIns="45720" rtlCol="0" anchor="ctr">
            <a:normAutofit/>
          </a:bodyPr>
          <a:lstStyle/>
          <a:p>
            <a:r>
              <a:rPr lang="en-US" sz="3700" dirty="0"/>
              <a:t>Heatmap</a:t>
            </a:r>
          </a:p>
        </p:txBody>
      </p:sp>
    </p:spTree>
    <p:extLst>
      <p:ext uri="{BB962C8B-B14F-4D97-AF65-F5344CB8AC3E}">
        <p14:creationId xmlns:p14="http://schemas.microsoft.com/office/powerpoint/2010/main" val="1719736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609A03-809F-9E8D-709E-278995416DC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78D40C9-B393-D0A3-E422-A6EC98E19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6D9B73-3946-8E3E-977B-8068009B8861}"/>
              </a:ext>
            </a:extLst>
          </p:cNvPr>
          <p:cNvSpPr>
            <a:spLocks noGrp="1"/>
          </p:cNvSpPr>
          <p:nvPr>
            <p:ph type="title"/>
          </p:nvPr>
        </p:nvSpPr>
        <p:spPr>
          <a:xfrm>
            <a:off x="454467" y="2023110"/>
            <a:ext cx="2469624" cy="2846070"/>
          </a:xfrm>
        </p:spPr>
        <p:txBody>
          <a:bodyPr vert="horz" lIns="91440" tIns="45720" rIns="91440" bIns="45720" rtlCol="0" anchor="ctr">
            <a:normAutofit/>
          </a:bodyPr>
          <a:lstStyle/>
          <a:p>
            <a:r>
              <a:rPr lang="en-US" sz="3700" dirty="0"/>
              <a:t>Fraud Claims Vs Legitimate Claims</a:t>
            </a:r>
          </a:p>
        </p:txBody>
      </p:sp>
      <p:sp>
        <p:nvSpPr>
          <p:cNvPr id="7" name="Content Placeholder 2">
            <a:extLst>
              <a:ext uri="{FF2B5EF4-FFF2-40B4-BE49-F238E27FC236}">
                <a16:creationId xmlns:a16="http://schemas.microsoft.com/office/drawing/2014/main" id="{D69C8B44-098A-9989-D0DA-8D75A0CB25F6}"/>
              </a:ext>
            </a:extLst>
          </p:cNvPr>
          <p:cNvSpPr txBox="1">
            <a:spLocks/>
          </p:cNvSpPr>
          <p:nvPr/>
        </p:nvSpPr>
        <p:spPr>
          <a:xfrm>
            <a:off x="454467" y="4684974"/>
            <a:ext cx="2446465" cy="11782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Aft>
                <a:spcPts val="1000"/>
              </a:spcAft>
              <a:buNone/>
            </a:pPr>
            <a:r>
              <a:rPr lang="en-US" sz="1600" dirty="0">
                <a:effectLst/>
                <a:latin typeface="Calibri" panose="020F0502020204030204" pitchFamily="34" charset="0"/>
                <a:cs typeface="Calibri" panose="020F0502020204030204" pitchFamily="34" charset="0"/>
              </a:rPr>
              <a:t>Approximately 24% of the claims seem to be Fraud claims as per the data.</a:t>
            </a:r>
          </a:p>
          <a:p>
            <a:pPr marL="0" marR="0" indent="0">
              <a:spcAft>
                <a:spcPts val="1000"/>
              </a:spcAft>
              <a:buNone/>
            </a:pPr>
            <a:r>
              <a:rPr lang="en-US" sz="1600" dirty="0">
                <a:latin typeface="Calibri" panose="020F0502020204030204" pitchFamily="34" charset="0"/>
                <a:cs typeface="Calibri" panose="020F0502020204030204" pitchFamily="34" charset="0"/>
              </a:rPr>
              <a:t>Class imbalance is seen in the dataset which is treated using Random over sampling.</a:t>
            </a:r>
            <a:endParaRPr lang="en-US" sz="1600" dirty="0">
              <a:effectLst/>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FADA1E61-051E-65EE-4195-DACE54BD8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B6CB0E1-8B9B-4225-A62D-9C733E08F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3EDB3B-B881-1B06-9827-4664B4144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A7337CE-2571-F88A-F30B-C076810C865E}"/>
              </a:ext>
            </a:extLst>
          </p:cNvPr>
          <p:cNvPicPr>
            <a:picLocks noChangeAspect="1"/>
          </p:cNvPicPr>
          <p:nvPr/>
        </p:nvPicPr>
        <p:blipFill>
          <a:blip r:embed="rId2"/>
          <a:stretch>
            <a:fillRect/>
          </a:stretch>
        </p:blipFill>
        <p:spPr>
          <a:xfrm>
            <a:off x="4757736" y="402492"/>
            <a:ext cx="6181725" cy="5791200"/>
          </a:xfrm>
          <a:prstGeom prst="rect">
            <a:avLst/>
          </a:prstGeom>
        </p:spPr>
      </p:pic>
    </p:spTree>
    <p:extLst>
      <p:ext uri="{BB962C8B-B14F-4D97-AF65-F5344CB8AC3E}">
        <p14:creationId xmlns:p14="http://schemas.microsoft.com/office/powerpoint/2010/main" val="191041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C3E10-D911-D4FB-1F65-DFF3E523076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93494-CB18-20BC-9F70-27E065282DF5}"/>
              </a:ext>
            </a:extLst>
          </p:cNvPr>
          <p:cNvSpPr>
            <a:spLocks noGrp="1"/>
          </p:cNvSpPr>
          <p:nvPr>
            <p:ph type="title"/>
          </p:nvPr>
        </p:nvSpPr>
        <p:spPr>
          <a:xfrm>
            <a:off x="3493" y="0"/>
            <a:ext cx="6714177" cy="516048"/>
          </a:xfrm>
        </p:spPr>
        <p:txBody>
          <a:bodyPr vert="horz" lIns="91440" tIns="45720" rIns="91440" bIns="45720" rtlCol="0" anchor="ctr">
            <a:noAutofit/>
          </a:bodyPr>
          <a:lstStyle/>
          <a:p>
            <a:r>
              <a:rPr lang="en-US" sz="2000" dirty="0">
                <a:latin typeface="Calibri" panose="020F0502020204030204" pitchFamily="34" charset="0"/>
                <a:cs typeface="Calibri" panose="020F0502020204030204" pitchFamily="34" charset="0"/>
              </a:rPr>
              <a:t>Relationship between Numerical features and Target Variable</a:t>
            </a:r>
          </a:p>
        </p:txBody>
      </p:sp>
      <p:sp>
        <p:nvSpPr>
          <p:cNvPr id="7" name="Content Placeholder 2">
            <a:extLst>
              <a:ext uri="{FF2B5EF4-FFF2-40B4-BE49-F238E27FC236}">
                <a16:creationId xmlns:a16="http://schemas.microsoft.com/office/drawing/2014/main" id="{34103FDD-4AFF-5EA9-E0B1-BAA8B8AB7DDA}"/>
              </a:ext>
            </a:extLst>
          </p:cNvPr>
          <p:cNvSpPr txBox="1">
            <a:spLocks/>
          </p:cNvSpPr>
          <p:nvPr/>
        </p:nvSpPr>
        <p:spPr>
          <a:xfrm>
            <a:off x="477627" y="5086350"/>
            <a:ext cx="2446465" cy="11782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Aft>
                <a:spcPts val="1000"/>
              </a:spcAft>
              <a:buNone/>
            </a:pPr>
            <a:endParaRPr lang="en-US" sz="1600" dirty="0">
              <a:effectLst/>
            </a:endParaRPr>
          </a:p>
        </p:txBody>
      </p:sp>
      <p:sp>
        <p:nvSpPr>
          <p:cNvPr id="33" name="Rectangle 32">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4B53E27-85A2-0AC1-6E17-44BF492E7326}"/>
              </a:ext>
            </a:extLst>
          </p:cNvPr>
          <p:cNvPicPr>
            <a:picLocks noChangeAspect="1"/>
          </p:cNvPicPr>
          <p:nvPr/>
        </p:nvPicPr>
        <p:blipFill>
          <a:blip r:embed="rId2"/>
          <a:stretch>
            <a:fillRect/>
          </a:stretch>
        </p:blipFill>
        <p:spPr>
          <a:xfrm>
            <a:off x="4054251" y="1270426"/>
            <a:ext cx="3703320" cy="1749818"/>
          </a:xfrm>
          <a:prstGeom prst="rect">
            <a:avLst/>
          </a:prstGeom>
        </p:spPr>
      </p:pic>
      <p:pic>
        <p:nvPicPr>
          <p:cNvPr id="4" name="Picture 3">
            <a:extLst>
              <a:ext uri="{FF2B5EF4-FFF2-40B4-BE49-F238E27FC236}">
                <a16:creationId xmlns:a16="http://schemas.microsoft.com/office/drawing/2014/main" id="{0F9A90BA-6C6C-3AA0-C62E-1E27113CEA5A}"/>
              </a:ext>
            </a:extLst>
          </p:cNvPr>
          <p:cNvPicPr>
            <a:picLocks noChangeAspect="1"/>
          </p:cNvPicPr>
          <p:nvPr/>
        </p:nvPicPr>
        <p:blipFill>
          <a:blip r:embed="rId3"/>
          <a:stretch>
            <a:fillRect/>
          </a:stretch>
        </p:blipFill>
        <p:spPr>
          <a:xfrm>
            <a:off x="7927572" y="1298201"/>
            <a:ext cx="3703320" cy="1694268"/>
          </a:xfrm>
          <a:prstGeom prst="rect">
            <a:avLst/>
          </a:prstGeom>
        </p:spPr>
      </p:pic>
      <p:pic>
        <p:nvPicPr>
          <p:cNvPr id="10" name="Picture 9">
            <a:extLst>
              <a:ext uri="{FF2B5EF4-FFF2-40B4-BE49-F238E27FC236}">
                <a16:creationId xmlns:a16="http://schemas.microsoft.com/office/drawing/2014/main" id="{F124D93B-4DBF-8E43-1E69-FCD1ACAA4191}"/>
              </a:ext>
            </a:extLst>
          </p:cNvPr>
          <p:cNvPicPr>
            <a:picLocks noChangeAspect="1"/>
          </p:cNvPicPr>
          <p:nvPr/>
        </p:nvPicPr>
        <p:blipFill>
          <a:blip r:embed="rId4"/>
          <a:stretch>
            <a:fillRect/>
          </a:stretch>
        </p:blipFill>
        <p:spPr>
          <a:xfrm>
            <a:off x="4054251" y="3993599"/>
            <a:ext cx="3703320" cy="1666493"/>
          </a:xfrm>
          <a:prstGeom prst="rect">
            <a:avLst/>
          </a:prstGeom>
        </p:spPr>
      </p:pic>
      <p:pic>
        <p:nvPicPr>
          <p:cNvPr id="14" name="Picture 13">
            <a:extLst>
              <a:ext uri="{FF2B5EF4-FFF2-40B4-BE49-F238E27FC236}">
                <a16:creationId xmlns:a16="http://schemas.microsoft.com/office/drawing/2014/main" id="{3DF36119-7C0E-291D-BBBE-E553999472B0}"/>
              </a:ext>
            </a:extLst>
          </p:cNvPr>
          <p:cNvPicPr>
            <a:picLocks noChangeAspect="1"/>
          </p:cNvPicPr>
          <p:nvPr/>
        </p:nvPicPr>
        <p:blipFill>
          <a:blip r:embed="rId5"/>
          <a:stretch>
            <a:fillRect/>
          </a:stretch>
        </p:blipFill>
        <p:spPr>
          <a:xfrm>
            <a:off x="7932998" y="4007486"/>
            <a:ext cx="3703320" cy="1638718"/>
          </a:xfrm>
          <a:prstGeom prst="rect">
            <a:avLst/>
          </a:prstGeom>
        </p:spPr>
      </p:pic>
      <p:sp>
        <p:nvSpPr>
          <p:cNvPr id="16" name="Content Placeholder 2">
            <a:extLst>
              <a:ext uri="{FF2B5EF4-FFF2-40B4-BE49-F238E27FC236}">
                <a16:creationId xmlns:a16="http://schemas.microsoft.com/office/drawing/2014/main" id="{AA21932D-C1F4-931D-AA6E-5AB8203C9823}"/>
              </a:ext>
            </a:extLst>
          </p:cNvPr>
          <p:cNvSpPr txBox="1">
            <a:spLocks/>
          </p:cNvSpPr>
          <p:nvPr/>
        </p:nvSpPr>
        <p:spPr>
          <a:xfrm>
            <a:off x="191916" y="664307"/>
            <a:ext cx="2963540" cy="5374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Fraud claims trend toward customers with fewer months on record, hinting that newer policyholders may pose a higher fraud risk.</a:t>
            </a:r>
          </a:p>
          <a:p>
            <a:pPr>
              <a:spcAft>
                <a:spcPts val="1000"/>
              </a:spcAft>
            </a:pPr>
            <a:r>
              <a:rPr lang="en-US" sz="1600" dirty="0">
                <a:effectLst/>
                <a:latin typeface="Calibri" panose="020F0502020204030204" pitchFamily="34" charset="0"/>
                <a:cs typeface="Calibri" panose="020F0502020204030204" pitchFamily="34" charset="0"/>
              </a:rPr>
              <a:t>Fraud claims tend to cluster around premium ranges, hinting that certain policy costs may correlate with fraudulent behavior.</a:t>
            </a:r>
          </a:p>
          <a:p>
            <a:pPr>
              <a:spcAft>
                <a:spcPts val="1000"/>
              </a:spcAft>
            </a:pPr>
            <a:r>
              <a:rPr lang="en-US" sz="1600" dirty="0">
                <a:effectLst/>
                <a:latin typeface="Calibri" panose="020F0502020204030204" pitchFamily="34" charset="0"/>
                <a:cs typeface="Calibri" panose="020F0502020204030204" pitchFamily="34" charset="0"/>
              </a:rPr>
              <a:t>Fraud claims have the tendency to be from the age group ranging from 30-40 years.</a:t>
            </a:r>
          </a:p>
        </p:txBody>
      </p:sp>
    </p:spTree>
    <p:extLst>
      <p:ext uri="{BB962C8B-B14F-4D97-AF65-F5344CB8AC3E}">
        <p14:creationId xmlns:p14="http://schemas.microsoft.com/office/powerpoint/2010/main" val="326985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3AFCD7-BA02-8AEC-0909-BEBFE2687FA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FA8FCC8-258D-0FD1-2070-18B571D1627D}"/>
              </a:ext>
            </a:extLst>
          </p:cNvPr>
          <p:cNvPicPr>
            <a:picLocks noChangeAspect="1"/>
          </p:cNvPicPr>
          <p:nvPr/>
        </p:nvPicPr>
        <p:blipFill>
          <a:blip r:embed="rId2"/>
          <a:stretch>
            <a:fillRect/>
          </a:stretch>
        </p:blipFill>
        <p:spPr>
          <a:xfrm>
            <a:off x="1129115" y="869765"/>
            <a:ext cx="4724569" cy="2090621"/>
          </a:xfrm>
          <a:prstGeom prst="rect">
            <a:avLst/>
          </a:prstGeom>
        </p:spPr>
      </p:pic>
      <p:cxnSp>
        <p:nvCxnSpPr>
          <p:cNvPr id="25" name="Straight Connector 24">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78998109-104B-F771-F43E-F4E6729CFECB}"/>
              </a:ext>
            </a:extLst>
          </p:cNvPr>
          <p:cNvPicPr>
            <a:picLocks noChangeAspect="1"/>
          </p:cNvPicPr>
          <p:nvPr/>
        </p:nvPicPr>
        <p:blipFill>
          <a:blip r:embed="rId3"/>
          <a:stretch>
            <a:fillRect/>
          </a:stretch>
        </p:blipFill>
        <p:spPr>
          <a:xfrm>
            <a:off x="6338316" y="885661"/>
            <a:ext cx="4732940" cy="2058828"/>
          </a:xfrm>
          <a:prstGeom prst="rect">
            <a:avLst/>
          </a:prstGeom>
        </p:spPr>
      </p:pic>
      <p:cxnSp>
        <p:nvCxnSpPr>
          <p:cNvPr id="27" name="Straight Connector 26">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95E240F-3F74-46C5-41B3-7C51E0E4D57F}"/>
              </a:ext>
            </a:extLst>
          </p:cNvPr>
          <p:cNvPicPr>
            <a:picLocks noChangeAspect="1"/>
          </p:cNvPicPr>
          <p:nvPr/>
        </p:nvPicPr>
        <p:blipFill>
          <a:blip r:embed="rId4"/>
          <a:stretch>
            <a:fillRect/>
          </a:stretch>
        </p:blipFill>
        <p:spPr>
          <a:xfrm>
            <a:off x="1129115" y="3851690"/>
            <a:ext cx="4724569" cy="2185113"/>
          </a:xfrm>
          <a:prstGeom prst="rect">
            <a:avLst/>
          </a:prstGeom>
        </p:spPr>
      </p:pic>
      <p:pic>
        <p:nvPicPr>
          <p:cNvPr id="3" name="Picture 2">
            <a:extLst>
              <a:ext uri="{FF2B5EF4-FFF2-40B4-BE49-F238E27FC236}">
                <a16:creationId xmlns:a16="http://schemas.microsoft.com/office/drawing/2014/main" id="{D27901E5-E6A2-89BD-D009-5F5549B072DF}"/>
              </a:ext>
            </a:extLst>
          </p:cNvPr>
          <p:cNvPicPr>
            <a:picLocks noChangeAspect="1"/>
          </p:cNvPicPr>
          <p:nvPr/>
        </p:nvPicPr>
        <p:blipFill>
          <a:blip r:embed="rId5"/>
          <a:stretch>
            <a:fillRect/>
          </a:stretch>
        </p:blipFill>
        <p:spPr>
          <a:xfrm>
            <a:off x="6338316" y="3812145"/>
            <a:ext cx="4732940" cy="2271810"/>
          </a:xfrm>
          <a:prstGeom prst="rect">
            <a:avLst/>
          </a:prstGeom>
        </p:spPr>
      </p:pic>
      <p:sp>
        <p:nvSpPr>
          <p:cNvPr id="14" name="Content Placeholder 2">
            <a:extLst>
              <a:ext uri="{FF2B5EF4-FFF2-40B4-BE49-F238E27FC236}">
                <a16:creationId xmlns:a16="http://schemas.microsoft.com/office/drawing/2014/main" id="{5A270DED-C4CD-631E-D798-129FD9F2B908}"/>
              </a:ext>
            </a:extLst>
          </p:cNvPr>
          <p:cNvSpPr txBox="1">
            <a:spLocks/>
          </p:cNvSpPr>
          <p:nvPr/>
        </p:nvSpPr>
        <p:spPr>
          <a:xfrm>
            <a:off x="191917" y="166366"/>
            <a:ext cx="11474026" cy="648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Fraud claims are more prevalent during specific hours, hinting at suspicious timing patterns or higher-risk reporting windows for fraudulent activity.</a:t>
            </a:r>
          </a:p>
        </p:txBody>
      </p:sp>
    </p:spTree>
    <p:extLst>
      <p:ext uri="{BB962C8B-B14F-4D97-AF65-F5344CB8AC3E}">
        <p14:creationId xmlns:p14="http://schemas.microsoft.com/office/powerpoint/2010/main" val="18231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276570-50A0-0B99-17AE-78B183C772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647D851-4662-FF77-D46F-BF64B02ECAE5}"/>
              </a:ext>
            </a:extLst>
          </p:cNvPr>
          <p:cNvPicPr>
            <a:picLocks noChangeAspect="1"/>
          </p:cNvPicPr>
          <p:nvPr/>
        </p:nvPicPr>
        <p:blipFill>
          <a:blip r:embed="rId2"/>
          <a:stretch>
            <a:fillRect/>
          </a:stretch>
        </p:blipFill>
        <p:spPr>
          <a:xfrm>
            <a:off x="1129115" y="804802"/>
            <a:ext cx="4724569" cy="2220547"/>
          </a:xfrm>
          <a:prstGeom prst="rect">
            <a:avLst/>
          </a:prstGeom>
        </p:spPr>
      </p:pic>
      <p:cxnSp>
        <p:nvCxnSpPr>
          <p:cNvPr id="34" name="Straight Connector 33">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EF37B38-8D64-DBD8-2D1E-F9778BD7A4A4}"/>
              </a:ext>
            </a:extLst>
          </p:cNvPr>
          <p:cNvPicPr>
            <a:picLocks noChangeAspect="1"/>
          </p:cNvPicPr>
          <p:nvPr/>
        </p:nvPicPr>
        <p:blipFill>
          <a:blip r:embed="rId3"/>
          <a:stretch>
            <a:fillRect/>
          </a:stretch>
        </p:blipFill>
        <p:spPr>
          <a:xfrm>
            <a:off x="6338316" y="838332"/>
            <a:ext cx="4732940" cy="2153487"/>
          </a:xfrm>
          <a:prstGeom prst="rect">
            <a:avLst/>
          </a:prstGeom>
        </p:spPr>
      </p:pic>
      <p:cxnSp>
        <p:nvCxnSpPr>
          <p:cNvPr id="36" name="Straight Connector 35">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24A9172-897D-D750-9FB1-A5E3B3D53937}"/>
              </a:ext>
            </a:extLst>
          </p:cNvPr>
          <p:cNvPicPr>
            <a:picLocks noChangeAspect="1"/>
          </p:cNvPicPr>
          <p:nvPr/>
        </p:nvPicPr>
        <p:blipFill>
          <a:blip r:embed="rId4"/>
          <a:stretch>
            <a:fillRect/>
          </a:stretch>
        </p:blipFill>
        <p:spPr>
          <a:xfrm>
            <a:off x="1129115" y="3833973"/>
            <a:ext cx="4724569" cy="2220547"/>
          </a:xfrm>
          <a:prstGeom prst="rect">
            <a:avLst/>
          </a:prstGeom>
        </p:spPr>
      </p:pic>
      <p:pic>
        <p:nvPicPr>
          <p:cNvPr id="4" name="Picture 3">
            <a:extLst>
              <a:ext uri="{FF2B5EF4-FFF2-40B4-BE49-F238E27FC236}">
                <a16:creationId xmlns:a16="http://schemas.microsoft.com/office/drawing/2014/main" id="{410641EA-D5A7-49E5-DCC2-B550E90623D6}"/>
              </a:ext>
            </a:extLst>
          </p:cNvPr>
          <p:cNvPicPr>
            <a:picLocks noChangeAspect="1"/>
          </p:cNvPicPr>
          <p:nvPr/>
        </p:nvPicPr>
        <p:blipFill>
          <a:blip r:embed="rId5"/>
          <a:stretch>
            <a:fillRect/>
          </a:stretch>
        </p:blipFill>
        <p:spPr>
          <a:xfrm>
            <a:off x="6338316" y="3800313"/>
            <a:ext cx="4732940" cy="2295475"/>
          </a:xfrm>
          <a:prstGeom prst="rect">
            <a:avLst/>
          </a:prstGeom>
        </p:spPr>
      </p:pic>
      <p:sp>
        <p:nvSpPr>
          <p:cNvPr id="14" name="Content Placeholder 2">
            <a:extLst>
              <a:ext uri="{FF2B5EF4-FFF2-40B4-BE49-F238E27FC236}">
                <a16:creationId xmlns:a16="http://schemas.microsoft.com/office/drawing/2014/main" id="{5A0C996A-A000-D74F-F238-1F8B54B4C2D2}"/>
              </a:ext>
            </a:extLst>
          </p:cNvPr>
          <p:cNvSpPr txBox="1">
            <a:spLocks/>
          </p:cNvSpPr>
          <p:nvPr/>
        </p:nvSpPr>
        <p:spPr>
          <a:xfrm>
            <a:off x="191916" y="166366"/>
            <a:ext cx="11496107" cy="648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Fraud claims skew toward higher total amounts, suggesting possible inflation or exaggerated damage. Fraud cases often show inflated or repeated injury amounts, indicating overstated medical costs.</a:t>
            </a:r>
          </a:p>
        </p:txBody>
      </p:sp>
    </p:spTree>
    <p:extLst>
      <p:ext uri="{BB962C8B-B14F-4D97-AF65-F5344CB8AC3E}">
        <p14:creationId xmlns:p14="http://schemas.microsoft.com/office/powerpoint/2010/main" val="2295708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3A1C8-84A1-A577-1045-4362D1E11C6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95E8C82-44B8-0515-20EC-0286EDB812FC}"/>
              </a:ext>
            </a:extLst>
          </p:cNvPr>
          <p:cNvPicPr>
            <a:picLocks noChangeAspect="1"/>
          </p:cNvPicPr>
          <p:nvPr/>
        </p:nvPicPr>
        <p:blipFill>
          <a:blip r:embed="rId2"/>
          <a:stretch>
            <a:fillRect/>
          </a:stretch>
        </p:blipFill>
        <p:spPr>
          <a:xfrm>
            <a:off x="484632" y="2612593"/>
            <a:ext cx="3517119" cy="1626667"/>
          </a:xfrm>
          <a:prstGeom prst="rect">
            <a:avLst/>
          </a:prstGeom>
        </p:spPr>
      </p:pic>
      <p:cxnSp>
        <p:nvCxnSpPr>
          <p:cNvPr id="43" name="Straight Connector 42">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EC1EB1FC-7B5F-BEF8-0B70-D4FD7BD3305D}"/>
              </a:ext>
            </a:extLst>
          </p:cNvPr>
          <p:cNvPicPr>
            <a:picLocks noChangeAspect="1"/>
          </p:cNvPicPr>
          <p:nvPr/>
        </p:nvPicPr>
        <p:blipFill>
          <a:blip r:embed="rId3"/>
          <a:stretch>
            <a:fillRect/>
          </a:stretch>
        </p:blipFill>
        <p:spPr>
          <a:xfrm>
            <a:off x="4310676" y="2660976"/>
            <a:ext cx="3537345" cy="1529901"/>
          </a:xfrm>
          <a:prstGeom prst="rect">
            <a:avLst/>
          </a:prstGeom>
        </p:spPr>
      </p:pic>
      <p:cxnSp>
        <p:nvCxnSpPr>
          <p:cNvPr id="45" name="Straight Connector 44">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87B9AC07-723E-3EA3-DE3E-271B9A658ABB}"/>
              </a:ext>
            </a:extLst>
          </p:cNvPr>
          <p:cNvPicPr>
            <a:picLocks noChangeAspect="1"/>
          </p:cNvPicPr>
          <p:nvPr/>
        </p:nvPicPr>
        <p:blipFill>
          <a:blip r:embed="rId4"/>
          <a:stretch>
            <a:fillRect/>
          </a:stretch>
        </p:blipFill>
        <p:spPr>
          <a:xfrm>
            <a:off x="8162336" y="2652162"/>
            <a:ext cx="3517120" cy="1547532"/>
          </a:xfrm>
          <a:prstGeom prst="rect">
            <a:avLst/>
          </a:prstGeom>
        </p:spPr>
      </p:pic>
      <p:sp>
        <p:nvSpPr>
          <p:cNvPr id="13" name="Content Placeholder 2">
            <a:extLst>
              <a:ext uri="{FF2B5EF4-FFF2-40B4-BE49-F238E27FC236}">
                <a16:creationId xmlns:a16="http://schemas.microsoft.com/office/drawing/2014/main" id="{9932502F-D167-CD93-36FD-B61795C6E4BE}"/>
              </a:ext>
            </a:extLst>
          </p:cNvPr>
          <p:cNvSpPr txBox="1">
            <a:spLocks/>
          </p:cNvSpPr>
          <p:nvPr/>
        </p:nvSpPr>
        <p:spPr>
          <a:xfrm>
            <a:off x="191916" y="166366"/>
            <a:ext cx="11496107" cy="6484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Fraud claims often appear at higher claim values or cluster around specific amounts, pointing to possible repair-cost inflation or misrepresentation.</a:t>
            </a:r>
          </a:p>
        </p:txBody>
      </p:sp>
    </p:spTree>
    <p:extLst>
      <p:ext uri="{BB962C8B-B14F-4D97-AF65-F5344CB8AC3E}">
        <p14:creationId xmlns:p14="http://schemas.microsoft.com/office/powerpoint/2010/main" val="408254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1CC5A5E-E180-C5AE-4912-4DC8BC31C7D3}"/>
              </a:ext>
            </a:extLst>
          </p:cNvPr>
          <p:cNvSpPr txBox="1">
            <a:spLocks/>
          </p:cNvSpPr>
          <p:nvPr/>
        </p:nvSpPr>
        <p:spPr>
          <a:xfrm>
            <a:off x="838200" y="1578329"/>
            <a:ext cx="10614434" cy="45867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Random Over Sampling methodology was used in handling class imbalance.</a:t>
            </a:r>
          </a:p>
          <a:p>
            <a:pPr>
              <a:spcAft>
                <a:spcPts val="1000"/>
              </a:spcAft>
            </a:pPr>
            <a:r>
              <a:rPr lang="en-US" sz="1600" dirty="0">
                <a:latin typeface="Calibri" panose="020F0502020204030204" pitchFamily="34" charset="0"/>
                <a:cs typeface="Calibri" panose="020F0502020204030204" pitchFamily="34" charset="0"/>
              </a:rPr>
              <a:t>This was possible by dropping few of the redundant columns related to date time formats as they do not add value to the prediction.</a:t>
            </a:r>
          </a:p>
          <a:p>
            <a:pPr>
              <a:spcAft>
                <a:spcPts val="1000"/>
              </a:spcAft>
            </a:pPr>
            <a:r>
              <a:rPr lang="en-US" sz="1600" dirty="0">
                <a:effectLst/>
                <a:latin typeface="Calibri" panose="020F0502020204030204" pitchFamily="34" charset="0"/>
                <a:cs typeface="Calibri" panose="020F0502020204030204" pitchFamily="34" charset="0"/>
              </a:rPr>
              <a:t>Dummy variables were created us</a:t>
            </a:r>
            <a:r>
              <a:rPr lang="en-US" sz="1600" dirty="0">
                <a:latin typeface="Calibri" panose="020F0502020204030204" pitchFamily="34" charset="0"/>
                <a:cs typeface="Calibri" panose="020F0502020204030204" pitchFamily="34" charset="0"/>
              </a:rPr>
              <a:t>ing One-hot encoding.</a:t>
            </a:r>
          </a:p>
          <a:p>
            <a:pPr>
              <a:spcAft>
                <a:spcPts val="1000"/>
              </a:spcAft>
            </a:pPr>
            <a:r>
              <a:rPr lang="en-US" sz="1600" dirty="0">
                <a:latin typeface="Calibri" panose="020F0502020204030204" pitchFamily="34" charset="0"/>
                <a:cs typeface="Calibri" panose="020F0502020204030204" pitchFamily="34" charset="0"/>
              </a:rPr>
              <a:t>The features were scaled using the standard scaler as this suits best for the classification problems.</a:t>
            </a:r>
          </a:p>
          <a:p>
            <a:pPr>
              <a:spcAft>
                <a:spcPts val="1000"/>
              </a:spcAft>
            </a:pPr>
            <a:r>
              <a:rPr lang="en-US" sz="1600" dirty="0">
                <a:latin typeface="Calibri" panose="020F0502020204030204" pitchFamily="34" charset="0"/>
                <a:cs typeface="Calibri" panose="020F0502020204030204" pitchFamily="34" charset="0"/>
              </a:rPr>
              <a:t>Logistical Regression and Random forest models were built and evaluated to choose the appropriate approach.</a:t>
            </a:r>
          </a:p>
          <a:p>
            <a:pPr>
              <a:spcAft>
                <a:spcPts val="1000"/>
              </a:spcAft>
            </a:pPr>
            <a:r>
              <a:rPr lang="en-US" sz="1600" dirty="0">
                <a:effectLst/>
                <a:latin typeface="Calibri" panose="020F0502020204030204" pitchFamily="34" charset="0"/>
                <a:cs typeface="Calibri" panose="020F0502020204030204" pitchFamily="34" charset="0"/>
              </a:rPr>
              <a:t>RFECV was used to select the features for the Logistical Regression model.</a:t>
            </a:r>
          </a:p>
          <a:p>
            <a:pPr>
              <a:spcAft>
                <a:spcPts val="1000"/>
              </a:spcAft>
            </a:pPr>
            <a:r>
              <a:rPr lang="en-US" sz="1600" dirty="0">
                <a:effectLst/>
                <a:latin typeface="Calibri" panose="020F0502020204030204" pitchFamily="34" charset="0"/>
                <a:cs typeface="Calibri" panose="020F0502020204030204" pitchFamily="34" charset="0"/>
              </a:rPr>
              <a:t>Importance score was used to select the features for the Random forest model.</a:t>
            </a:r>
          </a:p>
        </p:txBody>
      </p:sp>
      <p:sp>
        <p:nvSpPr>
          <p:cNvPr id="3" name="Title 1">
            <a:extLst>
              <a:ext uri="{FF2B5EF4-FFF2-40B4-BE49-F238E27FC236}">
                <a16:creationId xmlns:a16="http://schemas.microsoft.com/office/drawing/2014/main" id="{372C4B4E-7C3F-CCA2-A73E-C1B858D5D2F9}"/>
              </a:ext>
            </a:extLst>
          </p:cNvPr>
          <p:cNvSpPr txBox="1">
            <a:spLocks/>
          </p:cNvSpPr>
          <p:nvPr/>
        </p:nvSpPr>
        <p:spPr>
          <a:xfrm>
            <a:off x="838200" y="552450"/>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dirty="0">
                <a:effectLst/>
                <a:latin typeface="Calibri" panose="020F0502020204030204" pitchFamily="34" charset="0"/>
                <a:cs typeface="Calibri" panose="020F0502020204030204" pitchFamily="34" charset="0"/>
              </a:rPr>
              <a:t>Methodology and Approach</a:t>
            </a:r>
            <a:endParaRPr lang="en-US" dirty="0"/>
          </a:p>
        </p:txBody>
      </p:sp>
    </p:spTree>
    <p:extLst>
      <p:ext uri="{BB962C8B-B14F-4D97-AF65-F5344CB8AC3E}">
        <p14:creationId xmlns:p14="http://schemas.microsoft.com/office/powerpoint/2010/main" val="360065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812E2B6-696F-56FF-D7F6-89CE303220C4}"/>
              </a:ext>
            </a:extLst>
          </p:cNvPr>
          <p:cNvSpPr txBox="1">
            <a:spLocks/>
          </p:cNvSpPr>
          <p:nvPr/>
        </p:nvSpPr>
        <p:spPr>
          <a:xfrm>
            <a:off x="630918" y="643465"/>
            <a:ext cx="3895359" cy="18466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400">
                <a:effectLst/>
              </a:rPr>
              <a:t>Logistics Regression</a:t>
            </a:r>
            <a:endParaRPr lang="en-US" sz="5400"/>
          </a:p>
        </p:txBody>
      </p:sp>
      <p:sp>
        <p:nvSpPr>
          <p:cNvPr id="25"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onnsiteX0" fmla="*/ 0 w 3566160"/>
              <a:gd name="connsiteY0" fmla="*/ 0 h 18288"/>
              <a:gd name="connsiteX1" fmla="*/ 665683 w 3566160"/>
              <a:gd name="connsiteY1" fmla="*/ 0 h 18288"/>
              <a:gd name="connsiteX2" fmla="*/ 1331366 w 3566160"/>
              <a:gd name="connsiteY2" fmla="*/ 0 h 18288"/>
              <a:gd name="connsiteX3" fmla="*/ 1818742 w 3566160"/>
              <a:gd name="connsiteY3" fmla="*/ 0 h 18288"/>
              <a:gd name="connsiteX4" fmla="*/ 2413102 w 3566160"/>
              <a:gd name="connsiteY4" fmla="*/ 0 h 18288"/>
              <a:gd name="connsiteX5" fmla="*/ 2936138 w 3566160"/>
              <a:gd name="connsiteY5" fmla="*/ 0 h 18288"/>
              <a:gd name="connsiteX6" fmla="*/ 3566160 w 3566160"/>
              <a:gd name="connsiteY6" fmla="*/ 0 h 18288"/>
              <a:gd name="connsiteX7" fmla="*/ 3566160 w 3566160"/>
              <a:gd name="connsiteY7" fmla="*/ 18288 h 18288"/>
              <a:gd name="connsiteX8" fmla="*/ 2971800 w 3566160"/>
              <a:gd name="connsiteY8" fmla="*/ 18288 h 18288"/>
              <a:gd name="connsiteX9" fmla="*/ 2448763 w 3566160"/>
              <a:gd name="connsiteY9" fmla="*/ 18288 h 18288"/>
              <a:gd name="connsiteX10" fmla="*/ 1854403 w 3566160"/>
              <a:gd name="connsiteY10" fmla="*/ 18288 h 18288"/>
              <a:gd name="connsiteX11" fmla="*/ 1295705 w 3566160"/>
              <a:gd name="connsiteY11" fmla="*/ 18288 h 18288"/>
              <a:gd name="connsiteX12" fmla="*/ 772668 w 3566160"/>
              <a:gd name="connsiteY12" fmla="*/ 18288 h 18288"/>
              <a:gd name="connsiteX13" fmla="*/ 0 w 3566160"/>
              <a:gd name="connsiteY13" fmla="*/ 18288 h 18288"/>
              <a:gd name="connsiteX14" fmla="*/ 0 w 356616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D5CA97F2-BDC0-0266-0489-1B8278BD296C}"/>
              </a:ext>
            </a:extLst>
          </p:cNvPr>
          <p:cNvSpPr txBox="1">
            <a:spLocks/>
          </p:cNvSpPr>
          <p:nvPr/>
        </p:nvSpPr>
        <p:spPr>
          <a:xfrm>
            <a:off x="630936" y="2807167"/>
            <a:ext cx="3895522" cy="3386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spcAft>
                <a:spcPts val="1000"/>
              </a:spcAft>
            </a:pPr>
            <a:r>
              <a:rPr lang="en-US" sz="2200" b="1">
                <a:effectLst/>
              </a:rPr>
              <a:t>Findings</a:t>
            </a:r>
          </a:p>
          <a:p>
            <a:pPr>
              <a:spcAft>
                <a:spcPts val="1000"/>
              </a:spcAft>
            </a:pPr>
            <a:r>
              <a:rPr lang="en-US" sz="2200">
                <a:effectLst/>
              </a:rPr>
              <a:t>The Logistic regression model gave the Test accuracy of 81.3%.</a:t>
            </a:r>
          </a:p>
          <a:p>
            <a:pPr>
              <a:spcAft>
                <a:spcPts val="1000"/>
              </a:spcAft>
            </a:pPr>
            <a:r>
              <a:rPr lang="en-US" sz="2200"/>
              <a:t>We are able to capture 66% of actual frauds.</a:t>
            </a:r>
          </a:p>
        </p:txBody>
      </p:sp>
      <p:pic>
        <p:nvPicPr>
          <p:cNvPr id="8" name="Picture 7" descr="A graph showing the results of a model metrics plot&#10;&#10;AI-generated content may be incorrect.">
            <a:extLst>
              <a:ext uri="{FF2B5EF4-FFF2-40B4-BE49-F238E27FC236}">
                <a16:creationId xmlns:a16="http://schemas.microsoft.com/office/drawing/2014/main" id="{79275E70-599C-E8C6-50F7-A0CE331486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624" y="594760"/>
            <a:ext cx="3099816" cy="2596095"/>
          </a:xfrm>
          <a:prstGeom prst="rect">
            <a:avLst/>
          </a:prstGeom>
        </p:spPr>
      </p:pic>
      <p:pic>
        <p:nvPicPr>
          <p:cNvPr id="6" name="Picture 5" descr="A screenshot of a phone&#10;&#10;AI-generated content may be incorrect.">
            <a:extLst>
              <a:ext uri="{FF2B5EF4-FFF2-40B4-BE49-F238E27FC236}">
                <a16:creationId xmlns:a16="http://schemas.microsoft.com/office/drawing/2014/main" id="{7263F353-071B-9D30-68CA-C801DB9A9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888" y="733488"/>
            <a:ext cx="3785616" cy="150478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3D1014A-1079-E08F-B057-266724A27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92624" y="4359082"/>
            <a:ext cx="3099816" cy="127092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9FEF948-3170-87AA-20C3-4D918A6297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47888" y="3430518"/>
            <a:ext cx="3785616" cy="2304288"/>
          </a:xfrm>
          <a:prstGeom prst="rect">
            <a:avLst/>
          </a:prstGeom>
        </p:spPr>
      </p:pic>
    </p:spTree>
    <p:extLst>
      <p:ext uri="{BB962C8B-B14F-4D97-AF65-F5344CB8AC3E}">
        <p14:creationId xmlns:p14="http://schemas.microsoft.com/office/powerpoint/2010/main" val="245980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F90324B-5A5E-0FB7-CE53-977D5FC1AECF}"/>
              </a:ext>
            </a:extLst>
          </p:cNvPr>
          <p:cNvSpPr txBox="1">
            <a:spLocks/>
          </p:cNvSpPr>
          <p:nvPr/>
        </p:nvSpPr>
        <p:spPr>
          <a:xfrm>
            <a:off x="456823" y="961363"/>
            <a:ext cx="3112914" cy="55156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pPr>
            <a:r>
              <a:rPr lang="en-US" sz="1600" dirty="0">
                <a:effectLst/>
                <a:latin typeface="Calibri" panose="020F0502020204030204" pitchFamily="34" charset="0"/>
                <a:cs typeface="Calibri" panose="020F0502020204030204" pitchFamily="34" charset="0"/>
              </a:rPr>
              <a:t>The base model gave the Training accuracy of 1.0.</a:t>
            </a:r>
          </a:p>
          <a:p>
            <a:pPr>
              <a:spcAft>
                <a:spcPts val="1000"/>
              </a:spcAft>
            </a:pPr>
            <a:r>
              <a:rPr lang="en-US" sz="1600" dirty="0">
                <a:latin typeface="Calibri" panose="020F0502020204030204" pitchFamily="34" charset="0"/>
                <a:cs typeface="Calibri" panose="020F0502020204030204" pitchFamily="34" charset="0"/>
              </a:rPr>
              <a:t>The Sensitivity, Specificity, Recall, Precision and F1_Score is also 1.0.</a:t>
            </a:r>
          </a:p>
          <a:p>
            <a:pPr>
              <a:spcAft>
                <a:spcPts val="1000"/>
              </a:spcAft>
            </a:pPr>
            <a:r>
              <a:rPr lang="en-US" sz="1600" dirty="0">
                <a:effectLst/>
                <a:latin typeface="Calibri" panose="020F0502020204030204" pitchFamily="34" charset="0"/>
                <a:cs typeface="Calibri" panose="020F0502020204030204" pitchFamily="34" charset="0"/>
              </a:rPr>
              <a:t>This suggests that the model was clearly over</a:t>
            </a:r>
            <a:r>
              <a:rPr lang="en-US" sz="1600" dirty="0">
                <a:latin typeface="Calibri" panose="020F0502020204030204" pitchFamily="34" charset="0"/>
                <a:cs typeface="Calibri" panose="020F0502020204030204" pitchFamily="34" charset="0"/>
              </a:rPr>
              <a:t>fitting the data.</a:t>
            </a:r>
          </a:p>
          <a:p>
            <a:pPr>
              <a:spcAft>
                <a:spcPts val="1000"/>
              </a:spcAft>
            </a:pPr>
            <a:r>
              <a:rPr lang="en-US" sz="1600" dirty="0">
                <a:latin typeface="Calibri" panose="020F0502020204030204" pitchFamily="34" charset="0"/>
                <a:cs typeface="Calibri" panose="020F0502020204030204" pitchFamily="34" charset="0"/>
              </a:rPr>
              <a:t>Importance score was used to select the top 20 features and hyper parameter tuning was done. </a:t>
            </a:r>
          </a:p>
          <a:p>
            <a:pPr>
              <a:spcAft>
                <a:spcPts val="1000"/>
              </a:spcAft>
            </a:pPr>
            <a:r>
              <a:rPr lang="en-US" sz="1600" dirty="0">
                <a:latin typeface="Calibri" panose="020F0502020204030204" pitchFamily="34" charset="0"/>
                <a:cs typeface="Calibri" panose="020F0502020204030204" pitchFamily="34" charset="0"/>
              </a:rPr>
              <a:t>Based on Hyper parameter tuning was done to find best parameters</a:t>
            </a:r>
          </a:p>
          <a:p>
            <a:pPr>
              <a:spcAft>
                <a:spcPts val="1000"/>
              </a:spcAft>
            </a:pPr>
            <a:r>
              <a:rPr lang="en-US" sz="1600" dirty="0">
                <a:latin typeface="Calibri" panose="020F0502020204030204" pitchFamily="34" charset="0"/>
                <a:cs typeface="Calibri" panose="020F0502020204030204" pitchFamily="34" charset="0"/>
              </a:rPr>
              <a:t>The Tuned model gave a test accuracy of 78%.</a:t>
            </a:r>
          </a:p>
          <a:p>
            <a:pPr>
              <a:spcAft>
                <a:spcPts val="1000"/>
              </a:spcAft>
            </a:pPr>
            <a:endParaRPr lang="en-US" sz="1600" dirty="0">
              <a:effectLst/>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E8FD4792-AA60-D4C9-A840-FA2778267FAF}"/>
              </a:ext>
            </a:extLst>
          </p:cNvPr>
          <p:cNvSpPr txBox="1">
            <a:spLocks/>
          </p:cNvSpPr>
          <p:nvPr/>
        </p:nvSpPr>
        <p:spPr>
          <a:xfrm>
            <a:off x="838200" y="0"/>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dirty="0">
                <a:effectLst/>
                <a:latin typeface="Calibri" panose="020F0502020204030204" pitchFamily="34" charset="0"/>
                <a:cs typeface="Calibri" panose="020F0502020204030204" pitchFamily="34" charset="0"/>
              </a:rPr>
              <a:t>Random Forest</a:t>
            </a:r>
            <a:endParaRPr lang="en-US" dirty="0"/>
          </a:p>
        </p:txBody>
      </p:sp>
      <p:pic>
        <p:nvPicPr>
          <p:cNvPr id="7" name="Picture 6">
            <a:extLst>
              <a:ext uri="{FF2B5EF4-FFF2-40B4-BE49-F238E27FC236}">
                <a16:creationId xmlns:a16="http://schemas.microsoft.com/office/drawing/2014/main" id="{57AE557D-EA5E-CD1A-CB0A-8EB0F1D26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175" y="1565250"/>
            <a:ext cx="7286625" cy="823929"/>
          </a:xfrm>
          <a:prstGeom prst="rect">
            <a:avLst/>
          </a:prstGeom>
        </p:spPr>
      </p:pic>
      <p:pic>
        <p:nvPicPr>
          <p:cNvPr id="9" name="Picture 8" descr="A math equation with black text&#10;&#10;AI-generated content may be incorrect.">
            <a:extLst>
              <a:ext uri="{FF2B5EF4-FFF2-40B4-BE49-F238E27FC236}">
                <a16:creationId xmlns:a16="http://schemas.microsoft.com/office/drawing/2014/main" id="{B74595CF-C938-121E-843C-F961042EF5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175" y="3080017"/>
            <a:ext cx="7093850" cy="936182"/>
          </a:xfrm>
          <a:prstGeom prst="rect">
            <a:avLst/>
          </a:prstGeom>
        </p:spPr>
      </p:pic>
      <p:sp>
        <p:nvSpPr>
          <p:cNvPr id="10" name="Content Placeholder 2">
            <a:extLst>
              <a:ext uri="{FF2B5EF4-FFF2-40B4-BE49-F238E27FC236}">
                <a16:creationId xmlns:a16="http://schemas.microsoft.com/office/drawing/2014/main" id="{B11EEF99-4B70-1509-2EFD-251387A974D1}"/>
              </a:ext>
            </a:extLst>
          </p:cNvPr>
          <p:cNvSpPr txBox="1">
            <a:spLocks/>
          </p:cNvSpPr>
          <p:nvPr/>
        </p:nvSpPr>
        <p:spPr>
          <a:xfrm>
            <a:off x="4067175" y="1194433"/>
            <a:ext cx="2228850" cy="26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000"/>
              </a:spcAft>
              <a:buNone/>
            </a:pPr>
            <a:r>
              <a:rPr lang="en-US" sz="1600" b="1" dirty="0">
                <a:effectLst/>
                <a:latin typeface="Calibri" panose="020F0502020204030204" pitchFamily="34" charset="0"/>
                <a:cs typeface="Calibri" panose="020F0502020204030204" pitchFamily="34" charset="0"/>
              </a:rPr>
              <a:t>Base Model</a:t>
            </a:r>
          </a:p>
        </p:txBody>
      </p:sp>
      <p:sp>
        <p:nvSpPr>
          <p:cNvPr id="11" name="Content Placeholder 2">
            <a:extLst>
              <a:ext uri="{FF2B5EF4-FFF2-40B4-BE49-F238E27FC236}">
                <a16:creationId xmlns:a16="http://schemas.microsoft.com/office/drawing/2014/main" id="{ECC831A5-2917-0D4C-2AC3-82286202AD0D}"/>
              </a:ext>
            </a:extLst>
          </p:cNvPr>
          <p:cNvSpPr txBox="1">
            <a:spLocks/>
          </p:cNvSpPr>
          <p:nvPr/>
        </p:nvSpPr>
        <p:spPr>
          <a:xfrm>
            <a:off x="4067175" y="2651125"/>
            <a:ext cx="2228850" cy="26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000"/>
              </a:spcAft>
              <a:buNone/>
            </a:pPr>
            <a:r>
              <a:rPr lang="en-US" sz="1600" b="1" dirty="0">
                <a:effectLst/>
                <a:latin typeface="Calibri" panose="020F0502020204030204" pitchFamily="34" charset="0"/>
                <a:cs typeface="Calibri" panose="020F0502020204030204" pitchFamily="34" charset="0"/>
              </a:rPr>
              <a:t>Tuned Model</a:t>
            </a:r>
          </a:p>
        </p:txBody>
      </p:sp>
      <p:pic>
        <p:nvPicPr>
          <p:cNvPr id="13" name="Picture 12" descr="A screenshot of a computer&#10;&#10;AI-generated content may be incorrect.">
            <a:extLst>
              <a:ext uri="{FF2B5EF4-FFF2-40B4-BE49-F238E27FC236}">
                <a16:creationId xmlns:a16="http://schemas.microsoft.com/office/drawing/2014/main" id="{14113D1E-1279-DE30-082D-F77AFC46D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3276" y="4862189"/>
            <a:ext cx="2762250" cy="1790700"/>
          </a:xfrm>
          <a:prstGeom prst="rect">
            <a:avLst/>
          </a:prstGeom>
        </p:spPr>
      </p:pic>
      <p:sp>
        <p:nvSpPr>
          <p:cNvPr id="14" name="Content Placeholder 2">
            <a:extLst>
              <a:ext uri="{FF2B5EF4-FFF2-40B4-BE49-F238E27FC236}">
                <a16:creationId xmlns:a16="http://schemas.microsoft.com/office/drawing/2014/main" id="{0789C533-06E4-A5BB-B025-7817A9386EFE}"/>
              </a:ext>
            </a:extLst>
          </p:cNvPr>
          <p:cNvSpPr txBox="1">
            <a:spLocks/>
          </p:cNvSpPr>
          <p:nvPr/>
        </p:nvSpPr>
        <p:spPr>
          <a:xfrm>
            <a:off x="4130294" y="4433297"/>
            <a:ext cx="2228850" cy="26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000"/>
              </a:spcAft>
              <a:buNone/>
            </a:pPr>
            <a:r>
              <a:rPr lang="en-US" sz="1600" b="1" dirty="0">
                <a:effectLst/>
                <a:latin typeface="Calibri" panose="020F0502020204030204" pitchFamily="34" charset="0"/>
                <a:cs typeface="Calibri" panose="020F0502020204030204" pitchFamily="34" charset="0"/>
              </a:rPr>
              <a:t>Tuned Model Matrix</a:t>
            </a:r>
          </a:p>
        </p:txBody>
      </p:sp>
    </p:spTree>
    <p:extLst>
      <p:ext uri="{BB962C8B-B14F-4D97-AF65-F5344CB8AC3E}">
        <p14:creationId xmlns:p14="http://schemas.microsoft.com/office/powerpoint/2010/main" val="272176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C5A7-332D-D2FC-72B6-73363E68B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0E6BF-C52C-AB6D-3FD1-9D9EB784FC8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7DA1405-4286-6D4D-4384-F4CD7D50E437}"/>
              </a:ext>
            </a:extLst>
          </p:cNvPr>
          <p:cNvSpPr>
            <a:spLocks noGrp="1"/>
          </p:cNvSpPr>
          <p:nvPr>
            <p:ph idx="1"/>
          </p:nvPr>
        </p:nvSpPr>
        <p:spPr>
          <a:xfrm>
            <a:off x="838200" y="1617395"/>
            <a:ext cx="10515600" cy="4351338"/>
          </a:xfrm>
        </p:spPr>
        <p:txBody>
          <a:bodyPr>
            <a:normAutofit lnSpcReduction="10000"/>
          </a:bodyPr>
          <a:lstStyle/>
          <a:p>
            <a:r>
              <a:rPr lang="en-US" dirty="0">
                <a:latin typeface="system-ui"/>
              </a:rPr>
              <a:t>The Logistic Regression model performed better than the Radom forest model.</a:t>
            </a:r>
          </a:p>
          <a:p>
            <a:r>
              <a:rPr lang="en-US" dirty="0">
                <a:latin typeface="system-ui"/>
              </a:rPr>
              <a:t>Model selection methods helped in selecting the better model.</a:t>
            </a:r>
          </a:p>
          <a:p>
            <a:r>
              <a:rPr lang="en-US" dirty="0">
                <a:latin typeface="system-ui"/>
              </a:rPr>
              <a:t>Shorter tenures often correlate with higher fraud risk.</a:t>
            </a:r>
          </a:p>
          <a:p>
            <a:r>
              <a:rPr lang="en-US" dirty="0"/>
              <a:t>Policy Deductible, Policy Annual Premium, Umbrella Limit: Certain coverage or cost thresholds seem to attract more fraud.</a:t>
            </a:r>
            <a:endParaRPr lang="en-US" dirty="0">
              <a:latin typeface="system-ui"/>
            </a:endParaRPr>
          </a:p>
          <a:p>
            <a:r>
              <a:rPr lang="en-US" dirty="0"/>
              <a:t>Total Claim Amount, Vehicle Claim, Injury Claim, Property Claim: Fraudsters frequently inflate or bundle extra costs into claims.</a:t>
            </a:r>
            <a:endParaRPr lang="en-US" dirty="0">
              <a:latin typeface="system-ui"/>
            </a:endParaRPr>
          </a:p>
          <a:p>
            <a:r>
              <a:rPr lang="en-US" dirty="0"/>
              <a:t>Some age groups appear to file suspiciously high or frequent claims.</a:t>
            </a:r>
            <a:endParaRPr lang="en-US" dirty="0">
              <a:latin typeface="system-ui"/>
            </a:endParaRPr>
          </a:p>
        </p:txBody>
      </p:sp>
    </p:spTree>
    <p:extLst>
      <p:ext uri="{BB962C8B-B14F-4D97-AF65-F5344CB8AC3E}">
        <p14:creationId xmlns:p14="http://schemas.microsoft.com/office/powerpoint/2010/main" val="598616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B10A3-92E2-DF02-6070-FEFCA7256C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4089E-CC05-4859-E224-EC6635641698}"/>
              </a:ext>
            </a:extLst>
          </p:cNvPr>
          <p:cNvSpPr>
            <a:spLocks noGrp="1"/>
          </p:cNvSpPr>
          <p:nvPr>
            <p:ph idx="1"/>
          </p:nvPr>
        </p:nvSpPr>
        <p:spPr>
          <a:xfrm>
            <a:off x="838200" y="869134"/>
            <a:ext cx="10515600" cy="5721789"/>
          </a:xfrm>
        </p:spPr>
        <p:txBody>
          <a:bodyPr>
            <a:normAutofit fontScale="70000" lnSpcReduction="20000"/>
          </a:bodyPr>
          <a:lstStyle/>
          <a:p>
            <a:pPr marL="514350" indent="-514350" algn="l" rtl="0">
              <a:buAutoNum type="arabicPeriod"/>
            </a:pPr>
            <a:r>
              <a:rPr lang="en-US" b="0" i="0" dirty="0">
                <a:effectLst/>
                <a:latin typeface="system-ui"/>
              </a:rPr>
              <a:t>How can we analyze historical claim data to detect patterns that indicate fraudulent claims?</a:t>
            </a:r>
          </a:p>
          <a:p>
            <a:pPr marL="0" indent="0" algn="l" rtl="0">
              <a:buNone/>
            </a:pPr>
            <a:r>
              <a:rPr lang="en-US" dirty="0">
                <a:latin typeface="system-ui"/>
              </a:rPr>
              <a:t>Ans: We need to analyze categorical and numerical historical data to find fraud patterns, use statistical methods like box or density plots to identify trends, use heat maps to identify unusual associations.</a:t>
            </a:r>
          </a:p>
          <a:p>
            <a:pPr marL="0" indent="0" algn="l" rtl="0">
              <a:buNone/>
            </a:pPr>
            <a:br>
              <a:rPr lang="en-US" dirty="0"/>
            </a:br>
            <a:r>
              <a:rPr lang="en-US" b="0" i="0" dirty="0">
                <a:effectLst/>
                <a:latin typeface="system-ui"/>
              </a:rPr>
              <a:t>2. Which features are most predictive of fraudulent behavior?</a:t>
            </a:r>
          </a:p>
          <a:p>
            <a:pPr marL="0" indent="0" algn="l" rtl="0">
              <a:buNone/>
            </a:pPr>
            <a:r>
              <a:rPr lang="en-US" dirty="0"/>
              <a:t>Ans: Features like “Months as Customer”, “Age”, “Total Claim Amount” reveal risk factors associated with fraudulent behavior. “Type of incident” has the most predictive value.</a:t>
            </a:r>
          </a:p>
          <a:p>
            <a:pPr marL="0" indent="0" algn="l" rtl="0">
              <a:buNone/>
            </a:pPr>
            <a:br>
              <a:rPr lang="en-US" dirty="0"/>
            </a:br>
            <a:r>
              <a:rPr lang="en-US" b="0" i="0" dirty="0">
                <a:effectLst/>
                <a:latin typeface="system-ui"/>
              </a:rPr>
              <a:t>3. Can we predict the likelihood of fraud for an incoming claim, based on past data?</a:t>
            </a:r>
          </a:p>
          <a:p>
            <a:pPr marL="0" indent="0" algn="l" rtl="0">
              <a:buNone/>
            </a:pPr>
            <a:r>
              <a:rPr lang="en-US" dirty="0"/>
              <a:t>Ans: Yes, by building predictive model selection techniques and predicted probabilities a good prediction can on the likelihood can be made.</a:t>
            </a:r>
          </a:p>
          <a:p>
            <a:pPr marL="0" indent="0" algn="l" rtl="0">
              <a:buNone/>
            </a:pPr>
            <a:br>
              <a:rPr lang="en-US" dirty="0"/>
            </a:br>
            <a:r>
              <a:rPr lang="en-US" b="0" i="0" dirty="0">
                <a:effectLst/>
                <a:latin typeface="system-ui"/>
              </a:rPr>
              <a:t>4. What insights can be drawn from the model that can help in improving the fraud detection process?</a:t>
            </a:r>
          </a:p>
          <a:p>
            <a:pPr marL="0" indent="0">
              <a:buNone/>
            </a:pPr>
            <a:r>
              <a:rPr lang="en-US" dirty="0">
                <a:latin typeface="system-ui"/>
              </a:rPr>
              <a:t>Ans: Shorter tenures often correlate with higher fraud risk. Hence, the longer tenure should be preferred and have extra vigilance during shorter tenure claims.</a:t>
            </a:r>
          </a:p>
          <a:p>
            <a:pPr marL="0" indent="0">
              <a:buNone/>
            </a:pPr>
            <a:r>
              <a:rPr lang="en-US" dirty="0"/>
              <a:t>Policy Deductible, Policy Annual Premium, Umbrella Limit: Certain coverage or cost thresholds seem to attract more fraud. Hence these should be taken into consideration while setting the claims.</a:t>
            </a:r>
            <a:endParaRPr lang="en-US" dirty="0">
              <a:latin typeface="system-ui"/>
            </a:endParaRPr>
          </a:p>
          <a:p>
            <a:pPr marL="0" indent="0" algn="l" rtl="0">
              <a:buNone/>
            </a:pPr>
            <a:endParaRPr lang="en-US" dirty="0"/>
          </a:p>
        </p:txBody>
      </p:sp>
      <p:sp>
        <p:nvSpPr>
          <p:cNvPr id="6" name="Title 1">
            <a:extLst>
              <a:ext uri="{FF2B5EF4-FFF2-40B4-BE49-F238E27FC236}">
                <a16:creationId xmlns:a16="http://schemas.microsoft.com/office/drawing/2014/main" id="{21B21659-76CF-A9F1-339D-2AE6674E398D}"/>
              </a:ext>
            </a:extLst>
          </p:cNvPr>
          <p:cNvSpPr>
            <a:spLocks noGrp="1"/>
          </p:cNvSpPr>
          <p:nvPr>
            <p:ph type="title"/>
          </p:nvPr>
        </p:nvSpPr>
        <p:spPr>
          <a:xfrm>
            <a:off x="838200" y="-69440"/>
            <a:ext cx="10306616" cy="938574"/>
          </a:xfrm>
        </p:spPr>
        <p:txBody>
          <a:bodyPr/>
          <a:lstStyle/>
          <a:p>
            <a:r>
              <a:rPr lang="en-US" dirty="0"/>
              <a:t>Questions</a:t>
            </a:r>
          </a:p>
        </p:txBody>
      </p:sp>
    </p:spTree>
    <p:extLst>
      <p:ext uri="{BB962C8B-B14F-4D97-AF65-F5344CB8AC3E}">
        <p14:creationId xmlns:p14="http://schemas.microsoft.com/office/powerpoint/2010/main" val="842615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1080</Words>
  <Application>Microsoft Office PowerPoint</Application>
  <PresentationFormat>Widescreen</PresentationFormat>
  <Paragraphs>69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system-ui</vt:lpstr>
      <vt:lpstr>Office Theme</vt:lpstr>
      <vt:lpstr>Fraudulent_Claim_Detection</vt:lpstr>
      <vt:lpstr>Overview</vt:lpstr>
      <vt:lpstr>PowerPoint Presentation</vt:lpstr>
      <vt:lpstr>Heatmap</vt:lpstr>
      <vt:lpstr>Fraud Claims Vs Legitimate Claims</vt:lpstr>
      <vt:lpstr>Relationship between Numerical features and Target Variable</vt:lpstr>
      <vt:lpstr>PowerPoint Presentation</vt:lpstr>
      <vt:lpstr>PowerPoint Presentation</vt:lpstr>
      <vt:lpstr>PowerPoint Presentation</vt:lpstr>
      <vt:lpstr>PowerPoint Presentation</vt:lpstr>
      <vt:lpstr>PowerPoint Presentation</vt:lpstr>
      <vt:lpstr>PowerPoint Presentation</vt:lpstr>
      <vt:lpstr>Conclusion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rl</dc:creator>
  <cp:lastModifiedBy>karthik rl</cp:lastModifiedBy>
  <cp:revision>6</cp:revision>
  <dcterms:created xsi:type="dcterms:W3CDTF">2025-04-08T06:32:24Z</dcterms:created>
  <dcterms:modified xsi:type="dcterms:W3CDTF">2025-04-08T18:03:22Z</dcterms:modified>
</cp:coreProperties>
</file>